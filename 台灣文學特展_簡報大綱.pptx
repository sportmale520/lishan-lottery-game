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5638190" y="1371600"/>
            <a:ext cx="914400" cy="914400"/>
          </a:xfrm>
          <a:prstGeom prst="diamond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4400" b="1">
                <a:solidFill>
                  <a:srgbClr val="D32F2F"/>
                </a:solidFill>
                <a:latin typeface="Microsoft JhengHei"/>
              </a:defRPr>
            </a:pPr>
            <a:r>
              <a:t>「用筆來唱歌」</a:t>
            </a:r>
          </a:p>
          <a:p>
            <a:pPr algn="ctr">
              <a:spcBef>
                <a:spcPts val="1000"/>
              </a:spcBef>
              <a:defRPr sz="1800">
                <a:solidFill>
                  <a:srgbClr val="F5F6F8"/>
                </a:solidFill>
                <a:latin typeface="Microsoft JhengHei"/>
              </a:defRPr>
            </a:pPr>
            <a:r>
              <a:t>聽臺灣原住民族文學的天籟之音行動特展</a:t>
            </a:r>
            <a:br/>
            <a:r>
              <a:t>簡報大綱</a:t>
            </a:r>
            <a:br/>
            <a:br/>
            <a:r>
              <a:t>主辦單位：國立臺灣文學館</a:t>
            </a:r>
            <a:br/>
            <a:r>
              <a:t>借用展出：臺中市立梨山國民中小學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731520" y="685800"/>
            <a:ext cx="228600" cy="228600"/>
          </a:xfrm>
          <a:prstGeom prst="diamond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885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32F2F"/>
                </a:solidFill>
                <a:latin typeface="Microsoft JhengHei"/>
              </a:defRPr>
            </a:pPr>
            <a:r>
              <a:t>1. 展覽緣起與教學推廣目的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文學推廣的範疇與廣度：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國立臺灣文學館將歷年策劃之文學主題特展轉化為軟硬體整合的「可移動式行動展模組」，使文學輕鬆走入校園與公共空間。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跨學門的彈性教學資源：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行動展模組除作為獨立展覽外，亦可彈性搭配國文、歷史、公民、表演藝術等學科課程，提供豐富的實體教學應用。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聽見原住民族的天籟之音：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展覽核心「用筆來唱歌」旨在呈現臺灣原住民族作家如何透過筆尖與土地對話，傳承並展示其獨特的文化脈絡與生命力量。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731520" y="685800"/>
            <a:ext cx="228600" cy="228600"/>
          </a:xfrm>
          <a:prstGeom prst="diamond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885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32F2F"/>
                </a:solidFill>
                <a:latin typeface="Microsoft JhengHei"/>
              </a:defRPr>
            </a:pPr>
            <a:r>
              <a:t>2. 文學行動展借用與回饋規範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審核機制與效益評估：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借用單位須於梯次時間內線上申請，提出符合文學推廣目的之課程或活動規劃，由文學館召開審核會議通過後排定檔期。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借用期程與運費分擔：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展期以 21 至 28 天為原則，往返運費由臺灣文學館支應，借用單位須妥善維護及保管各組件。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成果回饋與教育資源分享：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借用單位須於歸還後兩週內填寫成果單並上傳照片，若自行開發學習單、教案等，需授權文學館公開共享。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731520" y="685800"/>
            <a:ext cx="228600" cy="228600"/>
          </a:xfrm>
          <a:prstGeom prst="diamond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885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32F2F"/>
                </a:solidFill>
                <a:latin typeface="Microsoft JhengHei"/>
              </a:defRPr>
            </a:pPr>
            <a:r>
              <a:t>3. 單元主題一：在大自然中平衡共存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海洋與高山的共存記憶：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展示夏曼．藍波安的《冷海情深》與《大海浮夢》，記錄蘭嶼達悟族人與深海巨浪共生的海洋智慧與島嶼生命力。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歷史文獻中的原民生活：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展示清代夏之芳〈台灣紀巡詩〉等古典文學作品，反映歷史脈絡中外來者對臺灣原住民族生活形態的觀察。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被迫流浪於本土的掙扎：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探討族人「被迫流浪在自己土地上」的生存困境，呈現與土地、祖靈深厚且不容割裂的情感。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731520" y="685800"/>
            <a:ext cx="228600" cy="228600"/>
          </a:xfrm>
          <a:prstGeom prst="diamond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885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32F2F"/>
                </a:solidFill>
                <a:latin typeface="Microsoft JhengHei"/>
              </a:defRPr>
            </a:pPr>
            <a:r>
              <a:t>4. 單元主題二：一把吉他一個和弦的林班歌謠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流動工地的時代哀愁：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介紹林志興、陳建年所創作的〈鄉愁〉與〈雙河戀〉，透過吉他彈唱抒發都市勞動與思鄉情懷。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豁達地用筆來唱歌：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展現原住民作家如何在部落與都市的夾縫中，以幽默、豁達的筆觸紀錄林班遷徙與工地生活的苦樂。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原民自主發聲的起點：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展出孫大川於《山海文化雜誌》創刊號（1993年）撰寫的發刊詞，象徵原住民奪回話語權的重要里程碑。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731520" y="685800"/>
            <a:ext cx="228600" cy="228600"/>
          </a:xfrm>
          <a:prstGeom prst="diamond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885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32F2F"/>
                </a:solidFill>
                <a:latin typeface="Microsoft JhengHei"/>
              </a:defRPr>
            </a:pPr>
            <a:r>
              <a:t>5. 單元主題三：原民文學的界定與文學成就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主體書寫與文學界定：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探討如何界定「原住民族文學」，反映族群經驗、歷史記憶與別具一格的漢語/母語混合書寫。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歷史重構與守護玉山魂：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展出霍斯陸曼．伐伐《玉山魂》（布農族）、巴代《笛鶴》（卑南族大巴六九部落）等經典著作，展示優異的史詩文學成就。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當代新銳的樹洞對話：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介紹程廷的《我長在打開的樹洞》（太魯閣族），以當代新銳青年的視角審視自身與部落環境的共生關係。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731520" y="685800"/>
            <a:ext cx="228600" cy="228600"/>
          </a:xfrm>
          <a:prstGeom prst="diamond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885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32F2F"/>
                </a:solidFill>
                <a:latin typeface="Microsoft JhengHei"/>
              </a:defRPr>
            </a:pPr>
            <a:r>
              <a:t>6. 單元主題四：以文學尋找回家的路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部落重建與尋根之旅：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透過奧威尼．卡露斯（魯凱族）《神秘的消失》與《消失的國度》，以文學拼湊消失的舊部落與族群歷史。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來自天籟之音的療癒力：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傾聽各族古謠與母語創作的聲音，從口傳文學的「天籟」之中汲取安撫族群傷痛的力量。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世界視野下的原民議題：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藉由利格拉樂・阿𡠄的《祖靈遺忘的孩子》等女性視角著作，將原住民議題與性別、全球人權脈絡對話。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731520" y="685800"/>
            <a:ext cx="228600" cy="228600"/>
          </a:xfrm>
          <a:prstGeom prst="diamond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885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32F2F"/>
                </a:solidFill>
                <a:latin typeface="Microsoft JhengHei"/>
              </a:defRPr>
            </a:pPr>
            <a:r>
              <a:t>7. 展箱實體珍貴手稿與圖書清點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原稿文獻與摘句展示：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展箱包含撒可努〈獵人哲學〉、卜袞〈祖父的射耳祭〉等手稿與摘句手拿板，增添展覽的臨場歷史感。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多族群經典圖書展陳：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實體圖書收錄里慕伊．阿紀《懷鄉》（泰雅族）、沙力浪《用頭帶背起一座座山》（布農族）、利格拉樂・阿𡠄（排灣族）等經典書籍。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標準清點流程確保完整：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借還時須依清點表核對 12 組展架、展板收納箱及 4 大展箱中的書籍、壓克力展示架及配件。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731520" y="685800"/>
            <a:ext cx="228600" cy="228600"/>
          </a:xfrm>
          <a:prstGeom prst="diamond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885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32F2F"/>
                </a:solidFill>
                <a:latin typeface="Microsoft JhengHei"/>
              </a:defRPr>
            </a:pPr>
            <a:r>
              <a:t>8. 行動展架安全組裝與拆卸指南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兩人協作與安全防護：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組裝需兩人一組，注意防範展架頃倒，作業時必須配戴防護手套並使用美工刀安全開箱。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穩固底座與束帶結構：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展架立起成 90 度後，順時針轉出下方底座 1~2 圈；兩扇展架對齊處以束帶固定（預留 3~5mm 緩衝空隙）。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磁吸展板與緩衝包裝：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依照展架與展板背後的對應編號吸附磁鐵；EVA 緩衝泡棉與原裝紙箱需妥善保存以利撤展包裝。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731520" y="685800"/>
            <a:ext cx="228600" cy="228600"/>
          </a:xfrm>
          <a:prstGeom prst="diamond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885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32F2F"/>
                </a:solidFill>
                <a:latin typeface="Microsoft JhengHei"/>
              </a:defRPr>
            </a:pPr>
            <a:r>
              <a:t>9. 展箱陳列模式與操作安全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開放式陳列（木層板）：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利用強力磁鐵將角柱固定於展箱內壁，並放入木層板，適用於書籍陳列與手拿板展示。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封閉式陳列（透明板）：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放入展示圖書或手稿後，將防塵透明板放上角柱加固（提取細線需置於角柱旁便於取出）。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重心防頃與卡榫鎖緊：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腳架立起後，金屬桿需完全嵌入展箱卡榫，並旋轉固定片；取出展板時收納箱應靠牆以防傾倒。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731520" y="685800"/>
            <a:ext cx="228600" cy="228600"/>
          </a:xfrm>
          <a:prstGeom prst="diamond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100885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D32F2F"/>
                </a:solidFill>
                <a:latin typeface="Microsoft JhengHei"/>
              </a:defRPr>
            </a:pPr>
            <a:r>
              <a:t>10. 梨山國中小特展實踐規劃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十日高山文學特展：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臺中市立梨山國中小展期安排於 115 年 6 月 17 日至 6 月 26 日，在泰雅族傳統領域開啟文學對話。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觀後學習單與文學探討：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結合國文與社會領域，引導學生觀展後繳交學習單，激發孩子對在地原住民文化脈絡的思考。</a:t>
            </a:r>
          </a:p>
          <a:p>
            <a:pPr>
              <a:lnSpc>
                <a:spcPct val="130000"/>
              </a:lnSpc>
              <a:spcAft>
                <a:spcPts val="2000"/>
              </a:spcAft>
            </a:pPr>
            <a:r>
              <a:rPr sz="1800" b="1">
                <a:solidFill>
                  <a:srgbClr val="FF6D00"/>
                </a:solidFill>
                <a:latin typeface="Microsoft JhengHei"/>
              </a:rPr>
              <a:t>數位抽獎與領獎通知：</a:t>
            </a:r>
            <a:r>
              <a:rPr sz="1600">
                <a:solidFill>
                  <a:srgbClr val="F5F6F8"/>
                </a:solidFill>
                <a:latin typeface="Microsoft JhengHei"/>
              </a:rPr>
              <a:t>繳交學習單的學生可參加原民主題數位抽獎（泰雅神箭/織布轉輪），並持單至「教務處教學組」領取精美獎品。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